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8" r:id="rId4"/>
    <p:sldId id="271" r:id="rId5"/>
    <p:sldId id="270" r:id="rId6"/>
    <p:sldId id="265" r:id="rId7"/>
    <p:sldId id="266" r:id="rId8"/>
    <p:sldId id="267" r:id="rId9"/>
    <p:sldId id="268" r:id="rId10"/>
    <p:sldId id="261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D35B18-CD19-4212-BABE-EDF17A58FD6E}" v="3719" dt="2026-05-20T14:11:08.520"/>
    <p1510:client id="{CAABC159-A0E4-46B1-9FD6-D85C0EC926C8}" v="432" dt="2026-05-21T10:14:11.054"/>
    <p1510:client id="{DC9425BC-6105-4364-9B99-83B0CB25DA98}" v="17" dt="2026-05-20T17:30:42.9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63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457FE-8394-94D1-D326-791DA770C5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20586-1711-6FF5-7C15-F83E35CF2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E6424-465D-B8C5-C5E0-53002431A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C4A79-5E1D-437B-E858-8E23B8658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8AEF6-3C0C-858D-AD91-DA90B3855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1316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65F97-2255-BC04-5253-C3475FD42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87A8A-99D1-DCFA-8285-232D8E69A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4D7F3-FE65-D680-C523-9B176B84C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081D5-BE93-B72F-7D00-A3DA25C5F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A90F1-0D36-0970-FD4D-FF4F26FBE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2180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5A9E5-CE87-5632-B144-6153A8A58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ED483-5202-735A-AC5A-5CC0C41E0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299E3-3997-A835-D213-8DDC116AB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7632F-E5F2-7582-4D4C-6D9701A09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5ECEA-F9E6-86E2-91ED-2FBB6C628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3137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CCEE9-81F7-DBB4-CE74-881F304CC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F885E-12E6-CE0D-BCBC-7E286E7D64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DF2B6-1118-D139-36FC-E4C462611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9481D-DC7C-4B78-4EEF-3A1D9CBCE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C0F8D-B47D-1D1C-259B-E5D4E9672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52765-91EC-1A68-138F-B98AAE2E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2239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ECEF1-BE7D-4E91-D72B-CB715A71F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2CEEB-E97D-4056-9D26-6AD719C51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C77AF8-87C2-832A-A55C-246DF8763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1B806A-DA83-E4E6-6410-481A1F822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098F9-8207-90C4-F0D1-746152EC80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6D9626-E54F-CD06-D03E-ED99EEB86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5C87E2-DCC0-4A51-FB59-BE7C8656D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36814D-979A-AA3C-9C98-FC328FFE4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914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63ADC-62BF-3ADA-39F1-0F2049FCB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32AF90-C3C8-FBA7-8B22-56CE4B7BC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648AE5-AD96-F851-D391-EBDDAADC6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F7F70-6404-F9D0-440C-7C18A0C42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4785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D74816-162F-205A-9C01-AB1AA9E91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802DAE-88DF-2202-E164-6B4CB3F04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CEB773-5375-54A1-C067-F53FDE338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2646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9E532-966C-972C-D69B-3A6B5D613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04C8C-FD5D-BAF4-F30E-4DAE8B85E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7D71D-DB6F-F061-DC4A-E9946BBE61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15CF7-AF83-C5E8-D628-94B1C5F2B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2F450C-210A-B967-30D7-B7E19D86A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0DA26-61EF-B0A1-042B-B27FD1F4C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712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02F36-C16E-AEB1-4CE2-837C9D91A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4C713B-EC5E-E111-8603-64965B5B64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BF098B-6E4B-DEF4-F37E-7FD1D2FFC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BABDC-A09E-172F-F160-ED384F98A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20C22-3C8A-F7F5-E331-281C4B826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58B4D-5487-F232-216E-A56C95831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228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7350A-7864-18AE-94C9-DE47DA68E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676BF-73AA-ECE3-2518-4D98BDBCB0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0ED44-1345-6783-0764-776623956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EB59D-3BFC-87BA-1739-31EA8DF3E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90752-D4B9-461B-E6E0-90318E3FC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601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3E8E4-E050-5EF7-B376-95AA486D8C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00CD68-314C-F118-D001-5DD5CB373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2C9AA-A140-D1EA-E57C-792D09D3A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C9C98-CA91-6948-7545-B63EE7ACA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92F05-2E93-9AD2-A8F3-9254D233A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24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2403D0-F860-32DC-0EA5-08309A3DA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91247-9FDC-8424-967E-4EAC238DE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D1F2D-4F5D-7F39-1507-7A794EFC2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81FA87-080A-49EF-B61F-319DE58C6EF7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50F58-F090-02A4-C073-97E8C448D1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AC2E4-5500-5AF2-44DB-EE9114FE46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609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A18E8E-33A3-5CEE-302E-1EB50302C8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2409" y="895483"/>
            <a:ext cx="5786232" cy="301119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bg1"/>
                </a:solidFill>
              </a:rPr>
              <a:t>SOLARSAFE – Heating Element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11E791-96F2-EFEA-D5E9-7C4F0C4812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6270" y="4142096"/>
            <a:ext cx="5338511" cy="1055142"/>
          </a:xfrm>
        </p:spPr>
        <p:txBody>
          <a:bodyPr>
            <a:normAutofit/>
          </a:bodyPr>
          <a:lstStyle/>
          <a:p>
            <a:r>
              <a:rPr lang="en-GB" sz="2000">
                <a:solidFill>
                  <a:schemeClr val="bg1"/>
                </a:solidFill>
              </a:rPr>
              <a:t>James Edwicker, Zac Heggie, Josh Tuckwell</a:t>
            </a: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040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551C1B-BF83-A0C4-BDEE-FE961019D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Context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93395-B098-7581-C6F0-965DB6306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sz="2400" dirty="0"/>
              <a:t>Roughly 4.5 billion people and 1/4 of the world's food crops affected by Aflatoxin contamination. 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sz="2400" dirty="0"/>
              <a:t>Disproportionately impacts smallholder farmers.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sz="2400" dirty="0"/>
              <a:t>Aflatoxin causes several billion dollars annually in crop losses, increased health care costs and trade restrictions.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sz="2400" dirty="0"/>
              <a:t>Contamination is amplified by poor drying practices, when maize retains moisture or is exposed to rain. </a:t>
            </a:r>
          </a:p>
        </p:txBody>
      </p:sp>
    </p:spTree>
    <p:extLst>
      <p:ext uri="{BB962C8B-B14F-4D97-AF65-F5344CB8AC3E}">
        <p14:creationId xmlns:p14="http://schemas.microsoft.com/office/powerpoint/2010/main" val="723679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6A0E3F-B4D1-5497-9076-939D1539F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48" y="681038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Existing Product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57222151-08DB-A8D6-6E03-5FDC6B4E4A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6940" y="1690688"/>
            <a:ext cx="6358119" cy="4351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D739C5-21DA-D04F-C570-8B4EF2D8E98A}"/>
              </a:ext>
            </a:extLst>
          </p:cNvPr>
          <p:cNvSpPr txBox="1"/>
          <p:nvPr/>
        </p:nvSpPr>
        <p:spPr>
          <a:xfrm>
            <a:off x="630853" y="2734334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/>
              <a:t>Solar Cell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ADCDE4-7DFC-3CD3-86FC-A698A8402B79}"/>
              </a:ext>
            </a:extLst>
          </p:cNvPr>
          <p:cNvSpPr txBox="1"/>
          <p:nvPr/>
        </p:nvSpPr>
        <p:spPr>
          <a:xfrm>
            <a:off x="491068" y="4190938"/>
            <a:ext cx="1536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/>
              <a:t>Controller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CB5303-DD36-6DBC-C826-BEF78007F6FA}"/>
              </a:ext>
            </a:extLst>
          </p:cNvPr>
          <p:cNvSpPr txBox="1"/>
          <p:nvPr/>
        </p:nvSpPr>
        <p:spPr>
          <a:xfrm>
            <a:off x="9876277" y="5267044"/>
            <a:ext cx="1684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/>
              <a:t>Fan and Motor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96681C-F158-6C88-08EC-94DB07859B4A}"/>
              </a:ext>
            </a:extLst>
          </p:cNvPr>
          <p:cNvSpPr txBox="1"/>
          <p:nvPr/>
        </p:nvSpPr>
        <p:spPr>
          <a:xfrm>
            <a:off x="9735524" y="4033674"/>
            <a:ext cx="1684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/>
              <a:t>Inflated Bag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72AA9E6-D362-D825-A84F-BBE83E2FA8D2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926253" y="2919000"/>
            <a:ext cx="1968414" cy="951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6FDB74F-B35E-9898-E3DB-2DBDC766139F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027854" y="4375604"/>
            <a:ext cx="2408679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D8B7813-A841-2796-D855-0273E5EB43E9}"/>
              </a:ext>
            </a:extLst>
          </p:cNvPr>
          <p:cNvSpPr txBox="1"/>
          <p:nvPr/>
        </p:nvSpPr>
        <p:spPr>
          <a:xfrm>
            <a:off x="491069" y="5523440"/>
            <a:ext cx="1536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/>
              <a:t>Battery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5120790-2E9E-9B9C-7745-46474135912F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2027855" y="5082002"/>
            <a:ext cx="2408678" cy="626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154687D-BBBE-2900-CD1F-285FEA4F3AD9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5037751" y="4758971"/>
            <a:ext cx="4838526" cy="692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4CA38D7-89D6-41F9-C3AF-9FFE99D5770A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6891867" y="4218340"/>
            <a:ext cx="2843657" cy="146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767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E8F26-7503-7C8F-B0D9-B0A0B1BA7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DAEAD2E-625F-209E-0582-3CCD46194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85524A-0F3B-99AA-9930-2B66BD342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48" y="681038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Existing Product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847AAD-5D9A-8122-3601-A60C08292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6FCBE5-3ACD-6B60-924B-172D9E0CB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0D24D14-24D6-F82D-C90E-482F9052F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067" y="1796113"/>
            <a:ext cx="8373852" cy="4936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7532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80F47-1FE3-6F0E-CA45-E6A2C950C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F51BBC6-C0EA-5100-3BAF-FFED94118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E780B9-8E7D-7AC3-C329-16DA25993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Development ideas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4E5C3E-CC1F-36FD-B494-83D1306C1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88EBD6-8489-8C00-3889-9E8B8CEAC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7E561-9EF1-C5B6-928B-0B27603E5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857" y="2181360"/>
            <a:ext cx="7116385" cy="847952"/>
          </a:xfrm>
        </p:spPr>
        <p:txBody>
          <a:bodyPr>
            <a:normAutofit lnSpcReduction="10000"/>
          </a:bodyPr>
          <a:lstStyle/>
          <a:p>
            <a:r>
              <a:rPr lang="en-GB"/>
              <a:t>Add a heating element to increase the temperature of the drying air</a:t>
            </a:r>
          </a:p>
          <a:p>
            <a:pPr marL="0" indent="0">
              <a:buNone/>
            </a:pPr>
            <a:endParaRPr lang="en-GB" sz="22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918E09-F790-F5F6-AA6E-0632B97E5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866" y="147299"/>
            <a:ext cx="4428067" cy="29319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955846-8D56-EED3-74CF-797A03C8B751}"/>
              </a:ext>
            </a:extLst>
          </p:cNvPr>
          <p:cNvSpPr txBox="1"/>
          <p:nvPr/>
        </p:nvSpPr>
        <p:spPr>
          <a:xfrm>
            <a:off x="795857" y="3075030"/>
            <a:ext cx="10896610" cy="398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800" dirty="0"/>
              <a:t>Want to investigate the following methods:</a:t>
            </a:r>
          </a:p>
          <a:p>
            <a:pPr marL="800100" lvl="1" indent="-342900">
              <a:spcBef>
                <a:spcPts val="1800"/>
              </a:spcBef>
              <a:buSzPct val="50000"/>
              <a:buFont typeface="Courier New" panose="02070309020205020404" pitchFamily="49" charset="0"/>
              <a:buChar char="o"/>
            </a:pPr>
            <a:r>
              <a:rPr lang="en-GB" sz="2400" dirty="0"/>
              <a:t>Using the fan motor heat.</a:t>
            </a:r>
          </a:p>
          <a:p>
            <a:pPr marL="800100" lvl="1" indent="-342900">
              <a:buSzPct val="50000"/>
              <a:buFont typeface="Courier New" panose="02070309020205020404" pitchFamily="49" charset="0"/>
              <a:buChar char="o"/>
            </a:pPr>
            <a:r>
              <a:rPr lang="en-GB" sz="2400" dirty="0"/>
              <a:t>Using heating elements like those used in a hair drier to control how much energy is used to heat the incoming air.</a:t>
            </a:r>
          </a:p>
          <a:p>
            <a:pPr marL="800100" lvl="1" indent="-342900">
              <a:buSzPct val="50000"/>
              <a:buFont typeface="Courier New" panose="02070309020205020404" pitchFamily="49" charset="0"/>
              <a:buChar char="o"/>
            </a:pPr>
            <a:r>
              <a:rPr lang="en-GB" sz="2400" dirty="0"/>
              <a:t>Mirrors to focus the sun’s energy onto material.</a:t>
            </a:r>
          </a:p>
          <a:p>
            <a:pPr marL="800100" lvl="1" indent="-342900">
              <a:buSzPct val="50000"/>
              <a:buFont typeface="Courier New" panose="02070309020205020404" pitchFamily="49" charset="0"/>
              <a:buChar char="o"/>
            </a:pPr>
            <a:r>
              <a:rPr lang="en-GB" sz="2400" dirty="0"/>
              <a:t>Using thermal battery concepts to bypass inefficiencies in battery storage for nighttime heating.</a:t>
            </a:r>
          </a:p>
          <a:p>
            <a:pPr marL="800100" lvl="1" indent="-342900">
              <a:buSzPct val="50000"/>
              <a:buFont typeface="Courier New" panose="02070309020205020404" pitchFamily="49" charset="0"/>
              <a:buChar char="o"/>
            </a:pPr>
            <a:r>
              <a:rPr lang="en-GB" sz="2400" dirty="0"/>
              <a:t>Methods of managing energy harvested in the day to retain enough for nighttime running.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8628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DABC5-0CD9-CBE8-97B9-674B06302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A284FA8-D333-CDD4-69E3-64B07463C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9C2B8C-C4F6-78E9-163A-148A5A35A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Solution Evaluation in Wider Context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E16E40-2292-9650-0698-95C856329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AB9294-B9BA-4DFD-FA1C-21F38A7B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BD192-0AA2-F2FF-BBA9-B8290BF56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310457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600"/>
              </a:spcAft>
            </a:pPr>
            <a:r>
              <a:rPr lang="en-GB" sz="2400" dirty="0"/>
              <a:t>Likely to be shared by an entire community or co-operative.</a:t>
            </a:r>
          </a:p>
          <a:p>
            <a:pPr>
              <a:spcAft>
                <a:spcPts val="600"/>
              </a:spcAft>
            </a:pPr>
            <a:r>
              <a:rPr lang="en-GB" sz="2400" dirty="0"/>
              <a:t>Relatively short period of time for all the members of the community to extract and treat their maize.</a:t>
            </a:r>
          </a:p>
          <a:p>
            <a:pPr>
              <a:spcAft>
                <a:spcPts val="600"/>
              </a:spcAft>
            </a:pPr>
            <a:r>
              <a:rPr lang="en-GB" sz="2400" dirty="0"/>
              <a:t>Aflatoxin normally enters the maize from the soil when first dried in the field.</a:t>
            </a:r>
          </a:p>
          <a:p>
            <a:pPr>
              <a:spcAft>
                <a:spcPts val="600"/>
              </a:spcAft>
            </a:pPr>
            <a:r>
              <a:rPr lang="en-GB" sz="2400" dirty="0"/>
              <a:t>Adding heat improves effectiveness and speed of drying.</a:t>
            </a:r>
          </a:p>
          <a:p>
            <a:pPr>
              <a:spcAft>
                <a:spcPts val="600"/>
              </a:spcAft>
            </a:pPr>
            <a:r>
              <a:rPr lang="en-GB" sz="2400" dirty="0"/>
              <a:t>Running at night increases quantity of maize dried per day.</a:t>
            </a:r>
          </a:p>
          <a:p>
            <a:pPr>
              <a:spcAft>
                <a:spcPts val="600"/>
              </a:spcAft>
            </a:pPr>
            <a:r>
              <a:rPr lang="en-GB" sz="2400" dirty="0"/>
              <a:t>The previous two points are would allow the machine to be used by more people.</a:t>
            </a:r>
          </a:p>
          <a:p>
            <a:pPr>
              <a:spcAft>
                <a:spcPts val="600"/>
              </a:spcAft>
            </a:pPr>
            <a:r>
              <a:rPr lang="en-GB" sz="2400" dirty="0"/>
              <a:t>Better drying improves food quality for reaching health safety standards.</a:t>
            </a:r>
          </a:p>
          <a:p>
            <a:pPr>
              <a:spcAft>
                <a:spcPts val="600"/>
              </a:spcAft>
            </a:pPr>
            <a:r>
              <a:rPr lang="en-GB" sz="2400" dirty="0"/>
              <a:t>Better health standards increases the value of the maize.</a:t>
            </a:r>
          </a:p>
        </p:txBody>
      </p:sp>
    </p:spTree>
    <p:extLst>
      <p:ext uri="{BB962C8B-B14F-4D97-AF65-F5344CB8AC3E}">
        <p14:creationId xmlns:p14="http://schemas.microsoft.com/office/powerpoint/2010/main" val="3849479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534EA-17BB-70BD-D133-D312CB4D7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21BDF54-DA5B-C57B-8FC7-27D31E120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94C527-2D2A-4F09-19EB-FF736DDBE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Project Management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F27194-3E24-82D2-8B90-BDDA0854F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83358E-DF21-8743-F268-91FB7F07F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D0432-8E07-8D97-4B81-EA97E7692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950" y="2293511"/>
            <a:ext cx="5236783" cy="3959619"/>
          </a:xfrm>
        </p:spPr>
        <p:txBody>
          <a:bodyPr>
            <a:normAutofit/>
          </a:bodyPr>
          <a:lstStyle/>
          <a:p>
            <a:r>
              <a:rPr lang="en-GB" sz="2400" dirty="0"/>
              <a:t>Our Strengths</a:t>
            </a:r>
          </a:p>
          <a:p>
            <a:pPr lvl="1"/>
            <a:r>
              <a:rPr lang="en-GB" sz="2000" dirty="0"/>
              <a:t>Josh and James have mechanical/aero experience</a:t>
            </a:r>
          </a:p>
          <a:p>
            <a:pPr lvl="1"/>
            <a:r>
              <a:rPr lang="en-GB" sz="2000" dirty="0"/>
              <a:t>Zac has electrical/control experience</a:t>
            </a:r>
          </a:p>
          <a:p>
            <a:pPr lvl="1"/>
            <a:r>
              <a:rPr lang="en-GB" sz="2000" dirty="0"/>
              <a:t>All have strong industry experience</a:t>
            </a:r>
          </a:p>
          <a:p>
            <a:pPr marL="457200" lvl="1" indent="0">
              <a:buNone/>
            </a:pPr>
            <a:endParaRPr lang="en-GB" sz="1400" dirty="0"/>
          </a:p>
          <a:p>
            <a:pPr marL="457200" lvl="1" indent="0">
              <a:buNone/>
            </a:pPr>
            <a:endParaRPr lang="en-GB" sz="2000" dirty="0"/>
          </a:p>
          <a:p>
            <a:r>
              <a:rPr lang="en-GB" sz="2400" dirty="0"/>
              <a:t>Our Weaknesses</a:t>
            </a:r>
          </a:p>
          <a:p>
            <a:pPr lvl="1"/>
            <a:r>
              <a:rPr lang="en-GB" sz="2000" dirty="0"/>
              <a:t>All lean towards perfectionism</a:t>
            </a:r>
          </a:p>
          <a:p>
            <a:pPr lvl="1"/>
            <a:r>
              <a:rPr lang="en-GB" sz="2000" dirty="0"/>
              <a:t>Frugal innovation comes less naturally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7FAD3-9C21-E7B6-753C-CA281A68C4C4}"/>
              </a:ext>
            </a:extLst>
          </p:cNvPr>
          <p:cNvSpPr txBox="1"/>
          <p:nvPr/>
        </p:nvSpPr>
        <p:spPr>
          <a:xfrm>
            <a:off x="5774267" y="2293511"/>
            <a:ext cx="6117318" cy="4316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Our Roles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Josh – lead communicator with Benard in Kenya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James – Project Lead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Zac – Electronics Lead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Small group so design and modelling can be a joint effort without compromising 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Skills Required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GB" sz="2000" dirty="0"/>
              <a:t>CAD design for 3D printing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GB" sz="2000" dirty="0"/>
              <a:t>Metal working (bending, fixing, welding)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GB" sz="2000" dirty="0"/>
              <a:t>Circuit design and construction (</a:t>
            </a:r>
            <a:r>
              <a:rPr lang="en-GB" sz="2000" dirty="0" err="1"/>
              <a:t>LTSpice</a:t>
            </a:r>
            <a:r>
              <a:rPr lang="en-GB" sz="2000" dirty="0"/>
              <a:t>, Soldering)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8908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32DCA-4170-171C-370D-FC66E23EF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2ADD2D-17A9-77E6-FE76-64BBBEA6C4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014D0-0C0E-DDF3-8292-8AAB09450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Development Timeline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A66C0F-A224-DFA9-B8CF-E835C9880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55EB46-955D-7566-1F4C-61F186696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7064D-196B-619A-B1A8-9870BABEA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Define scope – 19/05/26</a:t>
            </a:r>
          </a:p>
          <a:p>
            <a:pPr>
              <a:spcAft>
                <a:spcPts val="600"/>
              </a:spcAft>
            </a:pPr>
            <a:r>
              <a:rPr lang="en-GB" dirty="0"/>
              <a:t>Propose basic concepts – 21/05/26</a:t>
            </a:r>
          </a:p>
          <a:p>
            <a:pPr>
              <a:spcAft>
                <a:spcPts val="600"/>
              </a:spcAft>
            </a:pPr>
            <a:r>
              <a:rPr lang="en-GB" dirty="0"/>
              <a:t>Test concepts to find best viable solution – 01/06/26</a:t>
            </a:r>
          </a:p>
          <a:p>
            <a:pPr>
              <a:spcAft>
                <a:spcPts val="600"/>
              </a:spcAft>
            </a:pPr>
            <a:r>
              <a:rPr lang="en-GB" dirty="0"/>
              <a:t>Create a further developed concept – 08/06/26</a:t>
            </a:r>
          </a:p>
          <a:p>
            <a:pPr>
              <a:spcAft>
                <a:spcPts val="600"/>
              </a:spcAft>
            </a:pPr>
            <a:r>
              <a:rPr lang="en-GB" dirty="0"/>
              <a:t>Calculate effectiveness at the product level – 11/06/26</a:t>
            </a:r>
          </a:p>
        </p:txBody>
      </p:sp>
    </p:spTree>
    <p:extLst>
      <p:ext uri="{BB962C8B-B14F-4D97-AF65-F5344CB8AC3E}">
        <p14:creationId xmlns:p14="http://schemas.microsoft.com/office/powerpoint/2010/main" val="4159348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39CF5-41DB-0306-A03A-56B5CAEF2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16A3E2D-5CF2-1FED-493A-C6C28816B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047F93-CD69-0126-83EA-B79707BB6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Estimated Costing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002A09-D3E2-9121-7CF4-02BB3F8E1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84917C-4ADF-FDD6-D56D-F33B1A092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A1184-2B95-F15F-199F-61544FF51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Test motor: ~£10</a:t>
            </a:r>
          </a:p>
          <a:p>
            <a:r>
              <a:rPr lang="en-GB" dirty="0"/>
              <a:t>Test fan of equivalent size: ~£5 if printed</a:t>
            </a:r>
          </a:p>
          <a:p>
            <a:r>
              <a:rPr lang="en-GB" dirty="0"/>
              <a:t>Fan ducting</a:t>
            </a:r>
            <a:r>
              <a:rPr lang="en-GB"/>
              <a:t>: ~£5 </a:t>
            </a:r>
            <a:r>
              <a:rPr lang="en-GB" dirty="0"/>
              <a:t>printed</a:t>
            </a:r>
          </a:p>
          <a:p>
            <a:r>
              <a:rPr lang="en-GB" dirty="0"/>
              <a:t>Control elements: ~£5</a:t>
            </a:r>
          </a:p>
          <a:p>
            <a:r>
              <a:rPr lang="en-GB" dirty="0"/>
              <a:t>Sensing elements: ~£5</a:t>
            </a:r>
          </a:p>
          <a:p>
            <a:r>
              <a:rPr lang="en-GB" dirty="0"/>
              <a:t>Heating elements: ~£10</a:t>
            </a:r>
          </a:p>
          <a:p>
            <a:r>
              <a:rPr lang="en-GB" dirty="0"/>
              <a:t>Thermal battery: ~£40</a:t>
            </a:r>
          </a:p>
          <a:p>
            <a:r>
              <a:rPr lang="en-GB" dirty="0"/>
              <a:t>Exchange fins: ~£2 aluminium material</a:t>
            </a:r>
          </a:p>
        </p:txBody>
      </p:sp>
    </p:spTree>
    <p:extLst>
      <p:ext uri="{BB962C8B-B14F-4D97-AF65-F5344CB8AC3E}">
        <p14:creationId xmlns:p14="http://schemas.microsoft.com/office/powerpoint/2010/main" val="1924065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E79D4-9339-013D-34CC-21E70D7D4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79813"/>
            <a:ext cx="10515600" cy="1325563"/>
          </a:xfrm>
        </p:spPr>
        <p:txBody>
          <a:bodyPr/>
          <a:lstStyle/>
          <a:p>
            <a:r>
              <a:rPr lang="en-GB"/>
              <a:t>Risk Assessment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68B5636-AA66-ED33-D683-096D0AC21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22157"/>
              </p:ext>
            </p:extLst>
          </p:nvPr>
        </p:nvGraphicFramePr>
        <p:xfrm>
          <a:off x="838200" y="640080"/>
          <a:ext cx="10515600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17650380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9269142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71096896"/>
                    </a:ext>
                  </a:extLst>
                </a:gridCol>
                <a:gridCol w="1307327">
                  <a:extLst>
                    <a:ext uri="{9D8B030D-6E8A-4147-A177-3AD203B41FA5}">
                      <a16:colId xmlns:a16="http://schemas.microsoft.com/office/drawing/2014/main" val="156157261"/>
                    </a:ext>
                  </a:extLst>
                </a:gridCol>
                <a:gridCol w="2898913">
                  <a:extLst>
                    <a:ext uri="{9D8B030D-6E8A-4147-A177-3AD203B41FA5}">
                      <a16:colId xmlns:a16="http://schemas.microsoft.com/office/drawing/2014/main" val="1813662773"/>
                    </a:ext>
                  </a:extLst>
                </a:gridCol>
              </a:tblGrid>
              <a:tr h="341096">
                <a:tc>
                  <a:txBody>
                    <a:bodyPr/>
                    <a:lstStyle/>
                    <a:p>
                      <a:r>
                        <a:rPr lang="en-GB"/>
                        <a:t>General Hazard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Specific Hazard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Risk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Mitigation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9853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/>
                        <a:t>Dyson Centre Equipment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Hand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Bruising and Minor Cuts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/>
                        <a:t>Always work with a partner.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/>
                        <a:t>Know first aid kit and technician  locations.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/>
                        <a:t>Only use tools in the ways designed.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565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/>
                        <a:t>Dyson Centre Equipment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Heavy Machinary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Serious Bodily Harm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/>
                        <a:t>Do machine training if available.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/>
                        <a:t>Know first aid kit and technician  locations.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/>
                        <a:t>Keep a clear working area around the machine.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/>
                        <a:t>Know emergency stop location if available.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545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/>
                        <a:t>SOLARSAFE Heating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Physical Contact with Hot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Burns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/>
                        <a:t>Design and use a shroud when using heat.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/>
                        <a:t>Keep a clear area around the element when on and cooling.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182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/>
                        <a:t>SOLARSAFE Heating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Material Contact with Hot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Fire or Harmful Gas Release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/>
                        <a:t>Inspect the elements for debris before turning on.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/>
                        <a:t>Keep a clear area around the element when on and cooling.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297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/>
                        <a:t>SOLARSAFE Electrical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Short Circuiting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Damage and Burns to Skin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/>
                        <a:t>Use a second opinion on construction before first powering on.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/>
                        <a:t>Keep circuity clean of debris.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/>
                        <a:t>Use insulators and isolators where possible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553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/>
                        <a:t>SOLARSAFE Electrical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Exposed Conductors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Electrocution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/>
                        <a:t>Always work with a partner.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/>
                        <a:t>Know first aid kit and technician  locations.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/>
                        <a:t>Avoid handling exposed circuitry when power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539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1788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03F2D-7E65-C0B3-423E-D89754A9E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3FC81A2-BD22-0758-837D-A39D1578E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D869AE-9073-FBC2-AEB2-49F4D05D9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Contingency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DF24A5-0971-F405-4F7B-B0C40325E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A51F9D-37DB-CD14-3091-7E866145A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F2F44-0DBD-8AAC-4060-2D2DA37B7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/>
              <a:t>Heating idea fails: pivot to improving even drying of the maize.</a:t>
            </a:r>
          </a:p>
          <a:p>
            <a:r>
              <a:rPr lang="en-GB"/>
              <a:t>Failure in cost overrun: pivot to using our design for research and data collection for future attempts.</a:t>
            </a:r>
          </a:p>
          <a:p>
            <a:r>
              <a:rPr lang="en-GB"/>
              <a:t>Energy demands fail: pivot to minimise daytime drying time to increase throughput this way.</a:t>
            </a:r>
          </a:p>
        </p:txBody>
      </p:sp>
    </p:spTree>
    <p:extLst>
      <p:ext uri="{BB962C8B-B14F-4D97-AF65-F5344CB8AC3E}">
        <p14:creationId xmlns:p14="http://schemas.microsoft.com/office/powerpoint/2010/main" val="59867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711</Words>
  <Application>Microsoft Office PowerPoint</Application>
  <PresentationFormat>Widescreen</PresentationFormat>
  <Paragraphs>117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Courier New</vt:lpstr>
      <vt:lpstr>Office Theme</vt:lpstr>
      <vt:lpstr>SOLARSAFE – Heating Element</vt:lpstr>
      <vt:lpstr>Context</vt:lpstr>
      <vt:lpstr>Existing Product</vt:lpstr>
      <vt:lpstr>Existing Product</vt:lpstr>
      <vt:lpstr>Development ideas</vt:lpstr>
      <vt:lpstr>Solution Evaluation in Wider Context</vt:lpstr>
      <vt:lpstr>Project Management</vt:lpstr>
      <vt:lpstr>Development Timeline</vt:lpstr>
      <vt:lpstr>Estimated Costing</vt:lpstr>
      <vt:lpstr>Risk Assessment</vt:lpstr>
      <vt:lpstr>Contingency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 Tuckwell</dc:creator>
  <cp:lastModifiedBy>James Edwicker</cp:lastModifiedBy>
  <cp:revision>2</cp:revision>
  <dcterms:created xsi:type="dcterms:W3CDTF">2026-05-20T11:01:55Z</dcterms:created>
  <dcterms:modified xsi:type="dcterms:W3CDTF">2026-05-22T12:50:49Z</dcterms:modified>
</cp:coreProperties>
</file>